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87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vector_illustration_style_scene_of_a_tic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02920"/>
            <a:ext cx="5166360" cy="5715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6692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3550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STUDENT CASE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SeatGate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621792" y="2212848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DCE5F5"/>
                </a:solidFill>
              </a:rPr>
              <a:t>Using a sandboxed ticketing bot to teach digital trust and IT audit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8D2E5"/>
                </a:solidFill>
              </a:rPr>
              <a:t>Students act as junior IT auditors testing whether SeatGate’s stated controls actually operate during limited ticket drops.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251960"/>
            <a:ext cx="4389120" cy="0"/>
          </a:xfrm>
          <a:prstGeom prst="line">
            <a:avLst/>
          </a:prstGeom>
          <a:noFill/>
          <a:ln w="38100">
            <a:solidFill>
              <a:srgbClr val="2BB3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case exists</a:t>
            </a:r>
            <a:endParaRPr lang="en-US" sz="2400" dirty="0"/>
          </a:p>
        </p:txBody>
      </p:sp>
      <p:pic>
        <p:nvPicPr>
          <p:cNvPr id="4" name="Image 0" descr="/mnt/data/a_detailed_polished_vector_illustration_style_s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34440"/>
            <a:ext cx="388620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325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What happened in real life? United States v. Live Nation Entertainment  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965960"/>
            <a:ext cx="6172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2121408"/>
            <a:ext cx="347472" cy="347472"/>
          </a:xfrm>
          <a:prstGeom prst="ellipse">
            <a:avLst/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21854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307592" y="2186093"/>
            <a:ext cx="545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FTC alleged that Ticketmaster publicly claimed to protect fans from brokers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2971800"/>
            <a:ext cx="6172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" y="312724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319125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307592" y="3226816"/>
            <a:ext cx="555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Brokers used thousands of accounts and proxy IP addresses to buy large volumes of tickets 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6172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0392" y="4133088"/>
            <a:ext cx="347472" cy="347472"/>
          </a:xfrm>
          <a:prstGeom prst="ellipse">
            <a:avLst/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" y="419709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07592" y="4185243"/>
            <a:ext cx="545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These “scalpers” resold them on Ticketmaster’s resale platform at substantial markups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68680" y="553212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Could an IT audit have made a difference?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framing: AS 2201, COSO, and COBIT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The case links an audit standard to a general control framework and an IT-control framework.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5840" y="1234440"/>
            <a:ext cx="1001268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37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3441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67B1"/>
                </a:solidFill>
              </a:rPr>
              <a:t>PCAOB AS 2201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0" y="1344168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Audit standard: frames the control-testing task and the need for evidence.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05840" y="2331720"/>
            <a:ext cx="1001268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6E4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414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4EE4"/>
                </a:solidFill>
              </a:rPr>
              <a:t>COSO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441448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Internal-control lens: risk assessment, control activities, information and communication, monitoring.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1005840" y="3429000"/>
            <a:ext cx="1001268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35A0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53872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A06A"/>
                </a:solidFill>
              </a:rPr>
              <a:t>COBIT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0" y="3538728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IT-control lens: access, application processing, logging, exception monitoring, and management review.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005840" y="4526280"/>
            <a:ext cx="1001268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F0A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6360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044"/>
                </a:solidFill>
              </a:rPr>
              <a:t>SeatGate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0" y="4636008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Students test whether stated policies are enforced by system behavior and backend evidence.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43600" y="2057400"/>
            <a:ext cx="0" cy="274320"/>
          </a:xfrm>
          <a:prstGeom prst="line">
            <a:avLst/>
          </a:prstGeom>
          <a:noFill/>
          <a:ln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3154680"/>
            <a:ext cx="0" cy="274320"/>
          </a:xfrm>
          <a:prstGeom prst="line">
            <a:avLst/>
          </a:prstGeom>
          <a:noFill/>
          <a:ln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4251960"/>
            <a:ext cx="0" cy="274320"/>
          </a:xfrm>
          <a:prstGeom prst="line">
            <a:avLst/>
          </a:prstGeom>
          <a:noFill/>
          <a:ln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51560" y="5650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Controls tested: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51760" y="557784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56464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03320" y="55778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6E4EE4"/>
          </a:solidFill>
          <a:ln w="12700">
            <a:solidFill>
              <a:srgbClr val="6E4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56464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Application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74920" y="557784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564642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Logging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557784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564642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Exception review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955280" y="55778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564642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Monitoring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SeatGate audit scenario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Rogers &amp; Rogers LLP is engaged to evaluate whether SeatGate’s controls are designed and operating effectively.</a:t>
            </a:r>
            <a:endParaRPr lang="en-US" sz="950" dirty="0"/>
          </a:p>
        </p:txBody>
      </p:sp>
      <p:pic>
        <p:nvPicPr>
          <p:cNvPr id="4" name="Image 0" descr="/mnt/data/a_clean_high_detail_infographic_3d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34440"/>
            <a:ext cx="434340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23444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Stated policies to test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184708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2024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234440" y="18653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One ticket per user per event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0" y="184708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192024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14800" y="18653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Only valid users can purchase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285292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9260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234440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Inventory updates after each sale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0" y="285292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0" y="29260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14800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Suspicious behavior is logged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385876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9319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234440" y="3877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Exception reports are reviewed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0" y="385876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0" y="39319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0" y="3877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Admin functions are restricted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7240" y="5166360"/>
            <a:ext cx="53949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41324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Audit question: Are these policies supported by actual system behavior and sufficient audit evidence?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 of the classroom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Students move from ordinary users to IT auditors evaluating evidence.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38912" y="2423160"/>
            <a:ext cx="1444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0320">
            <a:solidFill>
              <a:srgbClr val="37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532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67B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7784" y="2834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Audit setting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5B6475"/>
                </a:solidFill>
              </a:rPr>
              <a:t>Students act as junior IT auditors.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1901952" y="3127248"/>
            <a:ext cx="109728" cy="0"/>
          </a:xfrm>
          <a:prstGeom prst="line">
            <a:avLst/>
          </a:prstGeom>
          <a:noFill/>
          <a:ln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29968" y="2423160"/>
            <a:ext cx="1444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2532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67B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834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Trial event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5B6475"/>
                </a:solidFill>
              </a:rPr>
              <a:t>Log in, buy free tickets, inspect page behavior.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3493008" y="3127248"/>
            <a:ext cx="109728" cy="0"/>
          </a:xfrm>
          <a:prstGeom prst="line">
            <a:avLst/>
          </a:prstGeom>
          <a:noFill/>
          <a:ln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21024" y="2423160"/>
            <a:ext cx="1444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2532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67B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9896" y="2834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Event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39896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5B6475"/>
                </a:solidFill>
              </a:rPr>
              <a:t>Manual ticket drop under scarcity.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5084064" y="3127248"/>
            <a:ext cx="109728" cy="0"/>
          </a:xfrm>
          <a:prstGeom prst="line">
            <a:avLst/>
          </a:prstGeom>
          <a:noFill/>
          <a:ln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12080" y="2423160"/>
            <a:ext cx="1444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532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67B1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0952" y="2834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Events 2 &amp;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30952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5B6475"/>
                </a:solidFill>
              </a:rPr>
              <a:t>Refine strategy or AI-assisted code.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6675120" y="3127248"/>
            <a:ext cx="109728" cy="0"/>
          </a:xfrm>
          <a:prstGeom prst="line">
            <a:avLst/>
          </a:prstGeom>
          <a:noFill/>
          <a:ln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03136" y="2423160"/>
            <a:ext cx="1444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2532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67B1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2834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Backend evidence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22008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5B6475"/>
                </a:solidFill>
              </a:rPr>
              <a:t>Instructor reveals logs, reports, automation.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266176" y="3127248"/>
            <a:ext cx="109728" cy="0"/>
          </a:xfrm>
          <a:prstGeom prst="line">
            <a:avLst/>
          </a:prstGeom>
          <a:noFill/>
          <a:ln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394192" y="2423160"/>
            <a:ext cx="1444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2532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67B1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13064" y="2834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Control review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13064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5B6475"/>
                </a:solidFill>
              </a:rPr>
              <a:t>Groups identify weaknesses and controls.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9857232" y="3127248"/>
            <a:ext cx="109728" cy="0"/>
          </a:xfrm>
          <a:prstGeom prst="line">
            <a:avLst/>
          </a:prstGeom>
          <a:noFill/>
          <a:ln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85248" y="2423160"/>
            <a:ext cx="1444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76688" y="2532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67B1"/>
                </a:solidFill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04120" y="2834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Debrief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104120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5B6475"/>
                </a:solidFill>
              </a:rPr>
              <a:t>Present findings and audit conclusions.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100584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</a:rPr>
              <a:t>Deliverables: Table 1 ticket-drop notes • Table 2 website discovery • Table 3 control review matrix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 1: Participate in and inspect the ticket drop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The trial event is for learning, inspecting, and testing without grade consequences.</a:t>
            </a:r>
            <a:endParaRPr lang="en-US" sz="950" dirty="0"/>
          </a:p>
        </p:txBody>
      </p:sp>
      <p:pic>
        <p:nvPicPr>
          <p:cNvPr id="4" name="Image 0" descr="/mnt/data/a_clean_vector_illustration_style_scene_of_a_tic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234440"/>
            <a:ext cx="320040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371600"/>
            <a:ext cx="6400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527048"/>
            <a:ext cx="347472" cy="347472"/>
          </a:xfrm>
          <a:prstGeom prst="ellipse">
            <a:avLst/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59105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53312" y="1499616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Trial event first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53312" y="1755648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Free tickets; 9,999 released; learn the transaction flow.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777240" y="2395728"/>
            <a:ext cx="6400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2551176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61518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53312" y="2523744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Inspect during trial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353312" y="2779776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Identify page elements used in the purchase process and start Table 2.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77240" y="3419856"/>
            <a:ext cx="6400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6112" y="3575304"/>
            <a:ext cx="347472" cy="347472"/>
          </a:xfrm>
          <a:prstGeom prst="ellipse">
            <a:avLst/>
          </a:prstGeom>
          <a:solidFill>
            <a:srgbClr val="6E4EE4"/>
          </a:solidFill>
          <a:ln w="12700">
            <a:solidFill>
              <a:srgbClr val="6E4E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363931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53312" y="3547872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Test before graded drops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353312" y="3803904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AI-assisted code should be tested on the trial event, not the graded drops.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77240" y="4443984"/>
            <a:ext cx="6400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96112" y="4599432"/>
            <a:ext cx="347472" cy="347472"/>
          </a:xfrm>
          <a:prstGeom prst="ellipse">
            <a:avLst/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6112" y="466344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53312" y="4572000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Then compete in three graded events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353312" y="4828032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Buy one valid ticket per event, regardless of tier.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914400" y="562356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A valid purchase is any one tier: pre-general, general admission, or early bird.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Ticket-drop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The scarcity is intentional: it makes control issues visible.</a:t>
            </a:r>
            <a:endParaRPr lang="en-US" sz="950" dirty="0"/>
          </a:p>
        </p:txBody>
      </p:sp>
      <p:pic>
        <p:nvPicPr>
          <p:cNvPr id="4" name="Image 0" descr="/mnt/data/a_detailed_polished_vector_illustration_style_s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379476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920" y="1280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Budget and purchase limits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66360" y="1783080"/>
            <a:ext cx="5486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85232" y="1938528"/>
            <a:ext cx="347472" cy="347472"/>
          </a:xfrm>
          <a:prstGeom prst="ellipse">
            <a:avLst/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85232" y="200253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42432" y="1911096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$3 budget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42432" y="2167128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Each student starts with three dollars.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5166360" y="2642616"/>
            <a:ext cx="5486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85232" y="2798064"/>
            <a:ext cx="347472" cy="347472"/>
          </a:xfrm>
          <a:prstGeom prst="ellipse">
            <a:avLst/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86207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42432" y="277063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$1 per ticket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42432" y="3026664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Each graded ticket costs one dollar.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166360" y="3502152"/>
            <a:ext cx="5486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85232" y="3657600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85232" y="372160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42432" y="3630168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One ticket per event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742432" y="388620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Do not buy multiple tiers for the same event.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166360" y="4361688"/>
            <a:ext cx="5486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285232" y="4517136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85232" y="458114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42432" y="4489704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Three graded events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742432" y="4745736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Full credit requires one valid ticket in each event.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166360" y="5221224"/>
            <a:ext cx="5486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285232" y="5376672"/>
            <a:ext cx="347472" cy="347472"/>
          </a:xfrm>
          <a:prstGeom prst="ellipse">
            <a:avLst/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85232" y="544068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42432" y="534924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Instructor controls release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742432" y="560527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Tickets may be released from the backend in any controlled fashion.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5212080" y="6080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Event 1: manual baseline. Events 2 and 3: time to refine strategy or test AI-assisted code.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 2: Website transaction discovery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Students document the visible page elements and why they matter for control testing.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417320" cy="420624"/>
          </a:xfrm>
          <a:prstGeom prst="rect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53312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Page area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2468880" y="1234440"/>
            <a:ext cx="1691640" cy="420624"/>
          </a:xfrm>
          <a:prstGeom prst="rect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23744" y="1353312"/>
            <a:ext cx="1581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Observed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1783080" cy="420624"/>
          </a:xfrm>
          <a:prstGeom prst="rect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1353312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What it does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6446520" y="1234440"/>
            <a:ext cx="2148840" cy="420624"/>
          </a:xfrm>
          <a:prstGeom prst="rect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353312"/>
            <a:ext cx="2039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Control issue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8869680" y="1234440"/>
            <a:ext cx="2377440" cy="420624"/>
          </a:xfrm>
          <a:prstGeom prst="rect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24544" y="1353312"/>
            <a:ext cx="2267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</a:rPr>
              <a:t>Audit relevance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173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755648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72033"/>
                </a:solidFill>
              </a:rPr>
              <a:t>Concerts page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2468880" y="1664208"/>
            <a:ext cx="16916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75564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434840" y="1664208"/>
            <a:ext cx="17830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175564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Lists events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446520" y="1664208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175564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Inventory display may be misleading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869680" y="1664208"/>
            <a:ext cx="23774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17556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How purchase process begins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731520" y="2322576"/>
            <a:ext cx="14173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414016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72033"/>
                </a:solidFill>
              </a:rPr>
              <a:t>Event card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468880" y="2322576"/>
            <a:ext cx="16916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2414016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434840" y="2322576"/>
            <a:ext cx="17830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2414016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Shows name/date/price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6446520" y="2322576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2414016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Incomplete or manipulated data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8869680" y="2322576"/>
            <a:ext cx="23774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33688" y="24140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Completeness and accuracy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731520" y="2980944"/>
            <a:ext cx="14173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3072384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72033"/>
                </a:solidFill>
              </a:rPr>
              <a:t>Quantity field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2468880" y="2980944"/>
            <a:ext cx="16916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32888" y="3072384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4434840" y="2980944"/>
            <a:ext cx="17830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8848" y="3072384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Chooses number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6446520" y="2980944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3072384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May exceed purchase limit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8869680" y="2980944"/>
            <a:ext cx="23774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33688" y="30723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Purchase-limit controls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731520" y="3639312"/>
            <a:ext cx="14173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3730752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72033"/>
                </a:solidFill>
              </a:rPr>
              <a:t>Purchase button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2468880" y="3639312"/>
            <a:ext cx="16916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32888" y="373075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4434840" y="3639312"/>
            <a:ext cx="17830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98848" y="373075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Submits order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6446520" y="3639312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37307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Bot can repeatedly trigger purchases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8869680" y="3639312"/>
            <a:ext cx="23774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33688" y="37307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Authorization and processing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731520" y="4297680"/>
            <a:ext cx="141732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" y="438912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72033"/>
                </a:solidFill>
              </a:rPr>
              <a:t>Messages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2468880" y="4297680"/>
            <a:ext cx="16916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32888" y="43891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4434840" y="4297680"/>
            <a:ext cx="178308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98848" y="43891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Confirms or blocks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446520" y="4297680"/>
            <a:ext cx="21488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0528" y="43891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Recorded ≠ authorized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8869680" y="4297680"/>
            <a:ext cx="2377440" cy="62179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33688" y="43891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B6475"/>
                </a:solidFill>
              </a:rPr>
              <a:t>Evidence of controls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960120" y="5532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Do not just name elements. Explain how each element affects authorization, limits, logging, or monitoring.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 2: Controlled automation demonstration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The script is a teaching device: it reveals control exposure, not a scalping lesson.</a:t>
            </a:r>
            <a:endParaRPr lang="en-US" sz="950" dirty="0"/>
          </a:p>
        </p:txBody>
      </p:sp>
      <p:pic>
        <p:nvPicPr>
          <p:cNvPr id="4" name="Image 0" descr="/mnt/data/a_detailed_modern_digital_illustration_concep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34440"/>
            <a:ext cx="41605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41732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572768"/>
            <a:ext cx="347472" cy="347472"/>
          </a:xfrm>
          <a:prstGeom prst="ellipse">
            <a:avLst/>
          </a:prstGeom>
          <a:solidFill>
            <a:srgbClr val="6E4EE4"/>
          </a:solidFill>
          <a:ln w="12700">
            <a:solidFill>
              <a:srgbClr val="6E4E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6367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53312" y="154533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Instructor reveals the script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53312" y="180136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Students observe how automated interaction can target predictable page elements.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777240" y="2441448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2596896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66090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53312" y="2569464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Compare speed and behavior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353312" y="282549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What did the script do faster than a human user?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77240" y="3465576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6112" y="3621024"/>
            <a:ext cx="347472" cy="347472"/>
          </a:xfrm>
          <a:prstGeom prst="ellipse">
            <a:avLst/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368503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53312" y="3593592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Check control response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353312" y="384962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Did SeatGate block, slow, log, or flag the behavior?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77240" y="4489704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96112" y="4645152"/>
            <a:ext cx="347472" cy="347472"/>
          </a:xfrm>
          <a:prstGeom prst="ellipse">
            <a:avLst/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6112" y="4709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53312" y="461772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Tie to backend evidence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353312" y="4873752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Logs and reports show what management could actually review.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868680" y="569671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Key distinction: automation is the event; control testing is the audit objective.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 3: Internal-control 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</a:rPr>
              <a:t>Groups translate observations into audit findings.</a:t>
            </a:r>
            <a:endParaRPr lang="en-US" sz="950" dirty="0"/>
          </a:p>
        </p:txBody>
      </p:sp>
      <p:pic>
        <p:nvPicPr>
          <p:cNvPr id="4" name="Image 0" descr="/mnt/data/a_clean_modern_isometric_illustrative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370332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83480" y="123444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Complete the matrix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74920" y="182880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93792" y="1984248"/>
            <a:ext cx="347472" cy="347472"/>
          </a:xfrm>
          <a:prstGeom prst="ellipse">
            <a:avLst/>
          </a:prstGeom>
          <a:solidFill>
            <a:srgbClr val="C84848"/>
          </a:solidFill>
          <a:ln w="12700">
            <a:solidFill>
              <a:srgbClr val="C848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93792" y="204825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50992" y="195681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Observed weakness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50992" y="221284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What failed or appeared weak?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5074920" y="265176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93792" y="2807208"/>
            <a:ext cx="347472" cy="347472"/>
          </a:xfrm>
          <a:prstGeom prst="ellipse">
            <a:avLst/>
          </a:prstGeom>
          <a:solidFill>
            <a:srgbClr val="3767B1"/>
          </a:solidFill>
          <a:ln w="12700">
            <a:solidFill>
              <a:srgbClr val="3767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93792" y="2871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50992" y="277977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Evidence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50992" y="303580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What did you see in logs, reports, or behavior?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074920" y="347472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93792" y="3630168"/>
            <a:ext cx="347472" cy="347472"/>
          </a:xfrm>
          <a:prstGeom prst="ellipse">
            <a:avLst/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93792" y="36941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50992" y="360273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Recommended control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650992" y="385876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What preventive or detective control would address it?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074920" y="4297680"/>
            <a:ext cx="55778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193792" y="4453128"/>
            <a:ext cx="347472" cy="347472"/>
          </a:xfrm>
          <a:prstGeom prst="ellipse">
            <a:avLst/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93792" y="451713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50992" y="442569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Control type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50992" y="468172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Preventive, detective, or both?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5166360" y="5440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2033"/>
                </a:solidFill>
              </a:rPr>
              <a:t>Possible findings: weak server-side validation, no rate-limiting, incomplete audit trail, weak exception review.</a:t>
            </a:r>
            <a:endParaRPr lang="en-US" sz="1230" dirty="0"/>
          </a:p>
        </p:txBody>
      </p:sp>
      <p:sp>
        <p:nvSpPr>
          <p:cNvPr id="27" name="Shape 24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detail_infographic_3d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85800"/>
            <a:ext cx="4572000" cy="5394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9436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66294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CLASS DEBRIEF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an IT auditor conclude?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58368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FE8F7"/>
                </a:solidFill>
              </a:rPr>
              <a:t>Discuss these two questions: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651760"/>
            <a:ext cx="5440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807208"/>
            <a:ext cx="347472" cy="347472"/>
          </a:xfrm>
          <a:prstGeom prst="ellipse">
            <a:avLst/>
          </a:prstGeom>
          <a:solidFill>
            <a:srgbClr val="F0A044"/>
          </a:solidFill>
          <a:ln w="12700">
            <a:solidFill>
              <a:srgbClr val="F0A0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71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61872" y="2779776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Most important weakness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61872" y="3035808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What control weakness did the ticket-drop exercise reveal most clearly?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685800" y="3767328"/>
            <a:ext cx="5440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  <a:effectLst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4672" y="3922776"/>
            <a:ext cx="347472" cy="347472"/>
          </a:xfrm>
          <a:prstGeom prst="ellipse">
            <a:avLst/>
          </a:prstGeom>
          <a:solidFill>
            <a:srgbClr val="35A06A"/>
          </a:solidFill>
          <a:ln w="12700">
            <a:solidFill>
              <a:srgbClr val="35A0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98678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61872" y="3895344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Evidence needed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261872" y="4151376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5B6475"/>
                </a:solidFill>
              </a:rPr>
              <a:t>What evidence would prove whether stated policies were actually enforced?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713232" y="5230368"/>
            <a:ext cx="5120640" cy="0"/>
          </a:xfrm>
          <a:prstGeom prst="line">
            <a:avLst/>
          </a:prstGeom>
          <a:noFill/>
          <a:ln w="31750">
            <a:solidFill>
              <a:srgbClr val="2BB3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4864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transaction can be recorded by the system and still fail the control objective.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5"/>
                </a:solidFill>
              </a:rPr>
              <a:t>SeatGate IT Audit Case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5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1011</Words>
  <Application>Microsoft Office PowerPoint</Application>
  <PresentationFormat>Widescreen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hunterng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SeatGate IT Audit Case</dc:title>
  <dc:subject>SeatGate IT Audit Case</dc:subject>
  <dc:creator>hunterng</dc:creator>
  <cp:lastModifiedBy>hunterng</cp:lastModifiedBy>
  <cp:revision>2</cp:revision>
  <dcterms:created xsi:type="dcterms:W3CDTF">2026-05-09T02:22:22Z</dcterms:created>
  <dcterms:modified xsi:type="dcterms:W3CDTF">2026-05-09T02:28:34Z</dcterms:modified>
</cp:coreProperties>
</file>