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74f5a17f714e52" /><Relationship Type="http://schemas.openxmlformats.org/officeDocument/2006/relationships/extended-properties" Target="/docProps/app.xml" Id="Re82c8950b6674010" /><Relationship Type="http://schemas.openxmlformats.org/officeDocument/2006/relationships/officeDocument" Target="/ppt/presentation.xml" Id="R69c4b047a9cf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6b5de8ae9d4730"/>
  </p:sldMasterIdLst>
  <p:notesMasterIdLst>
    <p:notesMasterId xmlns:r="http://schemas.openxmlformats.org/officeDocument/2006/relationships" r:id="Rfb02cfe1e9404e62"/>
  </p:notesMasterIdLst>
  <p:sldIdLst>
    <p:sldId xmlns:r="http://schemas.openxmlformats.org/officeDocument/2006/relationships" id="256" r:id="Ra96e87ec246045d3"/>
    <p:sldId xmlns:r="http://schemas.openxmlformats.org/officeDocument/2006/relationships" id="257" r:id="R528e69ccffc6495d"/>
    <p:sldId xmlns:r="http://schemas.openxmlformats.org/officeDocument/2006/relationships" id="258" r:id="R355beafcc9654c68"/>
    <p:sldId xmlns:r="http://schemas.openxmlformats.org/officeDocument/2006/relationships" id="259" r:id="R1a7d85c969944789"/>
    <p:sldId xmlns:r="http://schemas.openxmlformats.org/officeDocument/2006/relationships" id="260" r:id="R193610c09dde4b24"/>
    <p:sldId xmlns:r="http://schemas.openxmlformats.org/officeDocument/2006/relationships" id="261" r:id="R241650b9a4144a61"/>
    <p:sldId xmlns:r="http://schemas.openxmlformats.org/officeDocument/2006/relationships" id="262" r:id="R39e6dcfb204b4499"/>
    <p:sldId xmlns:r="http://schemas.openxmlformats.org/officeDocument/2006/relationships" id="263" r:id="R50a46ff405784d87"/>
    <p:sldId xmlns:r="http://schemas.openxmlformats.org/officeDocument/2006/relationships" id="264" r:id="R4ff2dcef176b4b69"/>
    <p:sldId xmlns:r="http://schemas.openxmlformats.org/officeDocument/2006/relationships" id="265" r:id="R164a8f22d970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711f1e0524a91" /><Relationship Type="http://schemas.openxmlformats.org/officeDocument/2006/relationships/slideMaster" Target="/ppt/slideMasters/slideMaster1.xml" Id="Rd06b5de8ae9d4730" /><Relationship Type="http://schemas.openxmlformats.org/officeDocument/2006/relationships/notesMaster" Target="/ppt/notesMasters/notesMaster1.xml" Id="Rfb02cfe1e9404e62" /><Relationship Type="http://schemas.openxmlformats.org/officeDocument/2006/relationships/presProps" Target="/ppt/presProps.xml" Id="R560e321d414d43eb" /><Relationship Type="http://schemas.openxmlformats.org/officeDocument/2006/relationships/viewProps" Target="/ppt/viewProps.xml" Id="Rbe3fe17a8b4f4a61" /><Relationship Type="http://schemas.openxmlformats.org/officeDocument/2006/relationships/tableStyles" Target="/ppt/tableStyles.xml" Id="Ra251c2c57a674a6c" /><Relationship Type="http://schemas.openxmlformats.org/officeDocument/2006/relationships/slide" Target="/ppt/slides/slide1.xml" Id="Ra96e87ec246045d3" /><Relationship Type="http://schemas.openxmlformats.org/officeDocument/2006/relationships/slide" Target="/ppt/slides/slide2.xml" Id="R528e69ccffc6495d" /><Relationship Type="http://schemas.openxmlformats.org/officeDocument/2006/relationships/slide" Target="/ppt/slides/slide3.xml" Id="R355beafcc9654c68" /><Relationship Type="http://schemas.openxmlformats.org/officeDocument/2006/relationships/slide" Target="/ppt/slides/slide4.xml" Id="R1a7d85c969944789" /><Relationship Type="http://schemas.openxmlformats.org/officeDocument/2006/relationships/slide" Target="/ppt/slides/slide5.xml" Id="R193610c09dde4b24" /><Relationship Type="http://schemas.openxmlformats.org/officeDocument/2006/relationships/slide" Target="/ppt/slides/slide6.xml" Id="R241650b9a4144a61" /><Relationship Type="http://schemas.openxmlformats.org/officeDocument/2006/relationships/slide" Target="/ppt/slides/slide7.xml" Id="R39e6dcfb204b4499" /><Relationship Type="http://schemas.openxmlformats.org/officeDocument/2006/relationships/slide" Target="/ppt/slides/slide8.xml" Id="R50a46ff405784d87" /><Relationship Type="http://schemas.openxmlformats.org/officeDocument/2006/relationships/slide" Target="/ppt/slides/slide9.xml" Id="R4ff2dcef176b4b69" /><Relationship Type="http://schemas.openxmlformats.org/officeDocument/2006/relationships/slide" Target="/ppt/slides/slide10.xml" Id="R164a8f22d970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8befb097c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a41937c6c4505" /><Relationship Type="http://schemas.openxmlformats.org/officeDocument/2006/relationships/notesMaster" Target="/ppt/notesMasters/notesMaster1.xml" Id="Rc84f07d1152d45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9061edf1343dd" /><Relationship Type="http://schemas.openxmlformats.org/officeDocument/2006/relationships/notesMaster" Target="/ppt/notesMasters/notesMaster1.xml" Id="R37a1860ef387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86daec5b94860" /><Relationship Type="http://schemas.openxmlformats.org/officeDocument/2006/relationships/notesMaster" Target="/ppt/notesMasters/notesMaster1.xml" Id="R10307a24855b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37667dca1a4302" /><Relationship Type="http://schemas.openxmlformats.org/officeDocument/2006/relationships/notesMaster" Target="/ppt/notesMasters/notesMaster1.xml" Id="R4365f021bf44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4d2ab789646a0" /><Relationship Type="http://schemas.openxmlformats.org/officeDocument/2006/relationships/notesMaster" Target="/ppt/notesMasters/notesMaster1.xml" Id="Rae45466765b3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e7ed874304cb1" /><Relationship Type="http://schemas.openxmlformats.org/officeDocument/2006/relationships/notesMaster" Target="/ppt/notesMasters/notesMaster1.xml" Id="R00e7314a07d9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ee8501107f4d95" /><Relationship Type="http://schemas.openxmlformats.org/officeDocument/2006/relationships/notesMaster" Target="/ppt/notesMasters/notesMaster1.xml" Id="R54b9a2128ae3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a95ed94a744a7" /><Relationship Type="http://schemas.openxmlformats.org/officeDocument/2006/relationships/notesMaster" Target="/ppt/notesMasters/notesMaster1.xml" Id="Rf0b7421e28af47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0a7794577f4deb" /><Relationship Type="http://schemas.openxmlformats.org/officeDocument/2006/relationships/notesMaster" Target="/ppt/notesMasters/notesMaster1.xml" Id="Refb342d237a248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b81b611cc74bcf" /><Relationship Type="http://schemas.openxmlformats.org/officeDocument/2006/relationships/notesMaster" Target="/ppt/notesMasters/notesMaster1.xml" Id="Rd454f323afcb40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SeatGate case deck and classroom exercise.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SeatGate case deck, admin screenshot, and instructor demonstration.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SeatGate application behavior and instructor pseudocode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admin-panel screenshot: codex-clipboard-2d0c45cd-128f-479c-ab47-33c6facd94eb.png.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instructor screenshot: codex-clipboard-538550ff-27dc-4ef0-b9a1-587e59f1d9f8.png.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91e6597db46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6c5ae65ac4cb5" /><Relationship Type="http://schemas.openxmlformats.org/officeDocument/2006/relationships/slideLayout" Target="/ppt/slideLayouts/slideLayout1.xml" Id="Rfc89431eab3644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9431eab3644a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a1104a6734a52" /><Relationship Type="http://schemas.openxmlformats.org/officeDocument/2006/relationships/image" Target="/ppt/media/image.png" Id="R060fd38ea9d14074" /><Relationship Type="http://schemas.openxmlformats.org/officeDocument/2006/relationships/notesSlide" Target="/ppt/notesSlides/notesSlide1.xml" Id="Rb2cd0b8394d84f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0491faf3a4c3e" /><Relationship Type="http://schemas.openxmlformats.org/officeDocument/2006/relationships/image" Target="/ppt/media/image2.png" Id="Rf536d600ef9a4f7e" /><Relationship Type="http://schemas.openxmlformats.org/officeDocument/2006/relationships/notesSlide" Target="/ppt/notesSlides/notesSlide2.xml" Id="R57e5203bc2fd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5760968f74c35" /><Relationship Type="http://schemas.openxmlformats.org/officeDocument/2006/relationships/notesSlide" Target="/ppt/notesSlides/notesSlide3.xml" Id="Rbf5df36074c143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4aa390d9144cc" /><Relationship Type="http://schemas.openxmlformats.org/officeDocument/2006/relationships/image" Target="/ppt/media/image3.png" Id="Re83bd01357bb4b64" /><Relationship Type="http://schemas.openxmlformats.org/officeDocument/2006/relationships/notesSlide" Target="/ppt/notesSlides/notesSlide4.xml" Id="R85e4f3faaeea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728ef876d4b73" /><Relationship Type="http://schemas.openxmlformats.org/officeDocument/2006/relationships/notesSlide" Target="/ppt/notesSlides/notesSlide5.xml" Id="R2af9a57338a5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737e837c14fe5" /><Relationship Type="http://schemas.openxmlformats.org/officeDocument/2006/relationships/image" Target="/ppt/media/image3.png" Id="R03fe5bb1d2db4fe6" /><Relationship Type="http://schemas.openxmlformats.org/officeDocument/2006/relationships/notesSlide" Target="/ppt/notesSlides/notesSlide6.xml" Id="R1589f5afdd5748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3b7b5af184a74" /><Relationship Type="http://schemas.openxmlformats.org/officeDocument/2006/relationships/image" Target="/ppt/media/image3.png" Id="R5c223c7294254764" /><Relationship Type="http://schemas.openxmlformats.org/officeDocument/2006/relationships/notesSlide" Target="/ppt/notesSlides/notesSlide7.xml" Id="R4e82ab1ae737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0b9be5a3e41cb" /><Relationship Type="http://schemas.openxmlformats.org/officeDocument/2006/relationships/notesSlide" Target="/ppt/notesSlides/notesSlide8.xml" Id="Rfc0a5d1139094b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6b123a0f54881" /><Relationship Type="http://schemas.openxmlformats.org/officeDocument/2006/relationships/image" Target="/ppt/media/image3.png" Id="R51f8cb629ce44302" /><Relationship Type="http://schemas.openxmlformats.org/officeDocument/2006/relationships/notesSlide" Target="/ppt/notesSlides/notesSlide9.xml" Id="R2ce00386a44d43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56cbb6ebd49d8" /><Relationship Type="http://schemas.openxmlformats.org/officeDocument/2006/relationships/image" Target="/ppt/media/image2.png" Id="R2698564a71e74d06" /><Relationship Type="http://schemas.openxmlformats.org/officeDocument/2006/relationships/notesSlide" Target="/ppt/notesSlides/notesSlide10.xml" Id="R5ecf407d729d4d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fd38ea9d14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502920"/>
            <a:ext cx="5166360" cy="5715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8B4BA78-D208-48C2-A6F1-1937808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6928"/>
            <a:ext cx="141732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A044"/>
          </a:solidFill>
          <a:ln xmlns:a="http://schemas.openxmlformats.org/drawingml/2006/main" w="12700">
            <a:solidFill>
              <a:srgbClr val="F0A044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2B04268-E1B6-4CB9-A7A6-32FF025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5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STUDENT CASE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6F2E7E0-EB49-4041-AE91-F0C1FDBC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5303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SeatGate</a:t>
            </a:r>
            <a:endParaRPr sz="4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A98383-2341-4EDB-9727-D65CF7C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12848"/>
            <a:ext cx="5166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DCE5F5"/>
                </a:solidFill>
              </a:rPr>
              <a:t>Using a sandboxed ticketing bot to teach digital trust and IT audit</a:t>
            </a:r>
            <a:endParaRPr sz="17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1F3734-931A-4990-B32F-0113BAE3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5303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8D2E5"/>
                </a:solidFill>
              </a:rPr>
              <a:t>Students act as junior IT auditors testing whether SeatGate’s stated controls actually operate during limited ticket drops.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65A626D-46D7-4DC7-A4B1-7496FC6F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4389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B3C0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E4978C8-B616-40BC-AEFA-C63D7DD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604A510-A361-43D6-BEDA-35443DF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EEC2DDC-DB7F-4739-9FD7-BD35CE2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01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68022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B95D2D-2003-479D-BA33-E68EF4A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SeatGate</a:t>
            </a: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 is a ticketing company engaged by the school</a:t>
            </a:r>
            <a:endParaRPr sz="24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6d600ef9a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5240" y="1234440"/>
            <a:ext cx="388620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8CC3C1D-AAF1-40B1-8A03-620A7D3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6172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</a:rPr>
              <a:t>The school has an upcoming popular sports event, and </a:t>
            </a:r>
            <a:r>
              <a:rPr sz="1600" b="1">
                <a:solidFill>
                  <a:srgbClr val="172033"/>
                </a:solidFill>
              </a:rPr>
              <a:t>SeatGate</a:t>
            </a:r>
            <a:r>
              <a:rPr sz="1600" b="1">
                <a:solidFill>
                  <a:srgbClr val="172033"/>
                </a:solidFill>
              </a:rPr>
              <a:t> has been contracted to sell tickets to students. However, tickets were snapped up very quickly and many students couldn’t buy.</a:t>
            </a:r>
            <a:endParaRPr sz="16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EAC2644-42C3-4719-813E-9482DBC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C0C279-02AA-4706-B3DB-9129F280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214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44"/>
          </a:solidFill>
          <a:ln xmlns:a="http://schemas.openxmlformats.org/drawingml/2006/main" w="12700">
            <a:solidFill>
              <a:srgbClr val="F0A044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1F0FDB-F4E2-41B2-9C97-03D7479B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8541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D80C38-43E6-43BF-B0A4-EFB9B202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86093"/>
            <a:ext cx="5458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Many students reportedly logged in at the release time but couldn’t buy.</a:t>
            </a:r>
            <a:endParaRPr sz="11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B015A47-3416-418D-B6DC-312E451F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985B0A2-2C58-44F9-A546-75EB3DA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272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FE22FF0-34CE-4E85-A87C-5F60117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9125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BB8533A-5E7F-4A98-BA69-6163768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226816"/>
            <a:ext cx="55504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Students reported the problem to the school and the school reported it to </a:t>
            </a:r>
            <a:r>
              <a:rPr sz="1150" b="1">
                <a:solidFill>
                  <a:srgbClr val="172033"/>
                </a:solidFill>
              </a:rPr>
              <a:t>SeatGate</a:t>
            </a:r>
            <a:endParaRPr sz="11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278CC90-ACF1-4690-A200-5243056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CA27685-954D-453A-9AE8-90F0A94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33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06A"/>
          </a:solidFill>
          <a:ln xmlns:a="http://schemas.openxmlformats.org/drawingml/2006/main" w="12700">
            <a:solidFill>
              <a:srgbClr val="35A06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7CD11A-F190-41C7-9F1A-57A7F76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9709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56F79DB-E169-4BEF-B50C-1AEAB59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185243"/>
            <a:ext cx="5458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SeatGate</a:t>
            </a:r>
            <a:r>
              <a:rPr sz="1150" b="1">
                <a:solidFill>
                  <a:srgbClr val="172033"/>
                </a:solidFill>
              </a:rPr>
              <a:t> now has hired IT auditors to check if their system has an issue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462E775-453C-422A-8757-5B10208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5989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2033"/>
                </a:solidFill>
              </a:rPr>
              <a:t>Could an IT audit have made a difference?</a:t>
            </a:r>
            <a:endParaRPr sz="13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D185E32-B8F1-4E09-9F65-F30D50F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99BE742-8F06-4A70-AEB5-FC5A490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4D04F38-6C76-4603-9571-3D35AED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92546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DD5867-0F6D-41A5-965F-4ABCDF2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Audit framing: AS 2201, COSO, and COBIT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9B76E8-8C39-4434-814B-6803A69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The case links an audit standard to a general control framework and an IT-control framework.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696BC8-FD93-40D9-9989-2CBD241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23444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3767B1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EE0A4F-334C-47CF-BCB3-069189A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34416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767B1"/>
                </a:solidFill>
              </a:rPr>
              <a:t>PCAOB AS 2201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3DB4B1-5767-4E3F-A7BE-E09B214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4416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</a:rPr>
              <a:t>Audit standard: frames the control-testing task and the need for evidence.</a:t>
            </a:r>
            <a:endParaRPr sz="102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093E285-4DE0-499B-94B5-92F5B73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3172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6E4EE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79CA327-1AE8-4963-A5D3-A446D66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4144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6E4EE4"/>
                </a:solidFill>
              </a:rPr>
              <a:t>COSO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442108-BB91-4A76-9296-6DCB143F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4144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</a:rPr>
              <a:t>Internal-control lens: risk assessment, control activities, information and communication, monitoring.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964FAE-5293-4B97-876A-81F008A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35A06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271091-6703-499B-9172-8164314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3872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5A06A"/>
                </a:solidFill>
              </a:rPr>
              <a:t>COBIT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741823-C2E3-45EE-9E65-8FE7EF02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872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</a:rPr>
              <a:t>IT-control lens: access, application processing, logging, exception monitoring, and management review.</a:t>
            </a:r>
            <a:endParaRPr sz="10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4FDAB38-6933-4560-AAC7-39C4CE3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2628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0A04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FE70F9-BB09-446B-9DD3-684162B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3600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0A044"/>
                </a:solidFill>
              </a:rPr>
              <a:t>SeatGate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ABEA71-5509-4E21-9F73-4FB4AC45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3600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</a:rPr>
              <a:t>Students test whether stated policies are enforced by system behavior and backend evidence.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56FB8AA-CCC6-4F7B-9600-53989AC1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5740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4001ADF-B922-468F-B1C3-E7B4E33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5468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50BBFBC-2FF4-43DB-86CD-C8A32B7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196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48CCAE-1A2F-4441-BE43-1CB0986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509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2033"/>
                </a:solidFill>
              </a:rPr>
              <a:t>Controls tested: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5F1211-19C1-4EF5-981F-5B3CA57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577840"/>
            <a:ext cx="9144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144F10-B1FB-44BF-B2CB-98DAF1D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46420"/>
            <a:ext cx="7315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Access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E7F15C6-3CE5-42BC-AF46-C54BEC5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77840"/>
            <a:ext cx="12344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E4EE4"/>
          </a:solidFill>
          <a:ln xmlns:a="http://schemas.openxmlformats.org/drawingml/2006/main" w="12700">
            <a:solidFill>
              <a:srgbClr val="6E4EE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3EF61DB-3636-4E91-9FF9-D975AE6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646420"/>
            <a:ext cx="10515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Application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5C1787E-80FA-4F93-9FBC-F2D54EB7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77840"/>
            <a:ext cx="96012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A06A"/>
          </a:solidFill>
          <a:ln xmlns:a="http://schemas.openxmlformats.org/drawingml/2006/main" w="12700">
            <a:solidFill>
              <a:srgbClr val="35A06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35B4084-0680-444D-A71F-5F2C19A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646420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Logging</a:t>
            </a:r>
            <a:endParaRPr sz="8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30F7457-42F9-43CB-A726-AE28478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7840"/>
            <a:ext cx="16002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A044"/>
          </a:solidFill>
          <a:ln xmlns:a="http://schemas.openxmlformats.org/drawingml/2006/main" w="12700">
            <a:solidFill>
              <a:srgbClr val="F0A04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EC3167-349D-48E6-8EE1-9CA84984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646420"/>
            <a:ext cx="14173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Exception review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26A3269-4F84-4159-AEC4-C0376F2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577840"/>
            <a:ext cx="11430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12700">
            <a:solidFill>
              <a:srgbClr val="2BB3C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0B8A4C-0501-4A0A-ACD8-1EE50AC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646420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Monitoring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331F283-2F63-4D9C-831B-C78E9C7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C754A88-E43E-4611-8666-EA08E5C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5CB6FB-CFBD-4F83-AEE6-273BB03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2561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D13554-E1F5-4971-878B-595A5B4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SeatGate audit scenario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462FDD-D128-4875-943F-F2FA67A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Rogers &amp; Rogers LLP is engaged to evaluate whether SeatGate’s controls are designed and operating effectively.</a:t>
            </a:r>
            <a:endParaRPr sz="950"/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bd01357bb4b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1234440"/>
            <a:ext cx="4343400" cy="452628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057404-54CB-4F68-96DB-45C85BC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34440"/>
            <a:ext cx="49377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</a:rPr>
              <a:t>Stated policies to test</a:t>
            </a:r>
            <a:endParaRPr sz="1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BD2D1B-1993-4EA4-810E-681C9ED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1AF11E-8D5C-4642-A9FF-6B64812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1</a:t>
            </a:r>
            <a:endParaRPr sz="8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A903CC-F2C2-4EB8-A030-982182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One ticket per user per event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716E3CA-4CF8-463F-AE0D-DD074C5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C8CFB6C-E3A0-4501-BAD6-443EA3B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2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6B5492-4AD8-487C-A1FF-68A9010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Only valid users can purchase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D29C71-6138-4ACE-835B-7D2D91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08F4DA-DCC1-4C81-A15C-C063E6A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3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C5D84B-0AAF-4A0E-975F-97EA54A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Inventory updates after each sale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F4434C-8C70-4AAB-A6A3-4154795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11F62BB-7F00-4BD2-8158-2322A5E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4</a:t>
            </a:r>
            <a:endParaRPr sz="8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F5378F0-7F94-45EB-8DB3-20225A1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Suspicious behavior is logged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6E2235-3EDD-4A6D-B8D1-CED433B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6854721-7603-4A3A-879C-0D92807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5</a:t>
            </a:r>
            <a:endParaRPr sz="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65CFD5-3221-4907-86A0-56F02536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Exception reports are reviewed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AB272F3-690A-4CA8-94F5-820A7CE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6C02DF6-D68D-4FFB-892B-0A2AF8A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6</a:t>
            </a:r>
            <a:endParaRPr sz="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B57C1C1-24C4-4D02-8C91-D95A3AC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Admin functions are restricted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B88EE-2A93-41B9-9148-75062A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8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ED80357-5519-4B88-9DBB-7104918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40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</a:rPr>
              <a:t>Audit question: Are these policies supported by actual system behavior and sufficient audit evidence?</a:t>
            </a:r>
            <a:endParaRPr sz="14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3C7B205-8783-45D8-9133-82BF743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BA68D-9D1A-4513-85DE-67366F7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F150A8C-EBD6-4306-98D2-068BAE5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419445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FBADF4-99BB-4906-AF53-FDB588FE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Flow of the classroom case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152C21-8ACC-4788-B74E-EB86B6F3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Students move from ordinary users to IT auditors evaluating evidence.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3E778D5-8173-4391-9518-FD8F715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248" y="2596896"/>
            <a:ext cx="144475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320">
            <a:solidFill>
              <a:srgbClr val="3767B1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6D9894-6FEB-4B56-B181-DC9D8C7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70662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767B1"/>
                </a:solidFill>
              </a:rPr>
              <a:t>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E4A9DB-2C9C-40DF-AD8C-F54AD77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008376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72033"/>
                </a:solidFill>
              </a:rPr>
              <a:t>Audit setting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11A701-BFE7-4E6E-B2D7-BAFF43F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355848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B6475"/>
                </a:solidFill>
              </a:rPr>
              <a:t>Students act as junior IT auditors.</a:t>
            </a:r>
            <a:endParaRPr sz="81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8E51A5A-EF04-4E4B-96D1-7DCA835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300984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C563F79-722C-4008-B673-52757C4B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596896"/>
            <a:ext cx="144475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764F30-16A1-433F-B3F7-57CBA168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70662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767B1"/>
                </a:solidFill>
              </a:rPr>
              <a:t>2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4AB38D-868B-40FB-B5D8-6C1D813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08376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72033"/>
                </a:solidFill>
              </a:rPr>
              <a:t>Trial event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C4585B-E67F-4586-B3DC-AB8B9058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55848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B6475"/>
                </a:solidFill>
              </a:rPr>
              <a:t>Log in, buy free tickets, inspect page behavior.</a:t>
            </a:r>
            <a:endParaRPr sz="81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B79DDDA-C0A9-4DDD-BFC3-E81BCF4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344" y="3300984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9B2F7EC-9A4A-44F3-B93C-6AF898F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96896"/>
            <a:ext cx="144475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D40864A-4FF5-4A92-B9B8-9ACC2305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0662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767B1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A0F0C7-366B-4073-8439-7B6C25D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008376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72033"/>
                </a:solidFill>
              </a:rPr>
              <a:t>Instructor Demo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8F7388F-7FCA-4836-990F-F5A2A70C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355848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B6475"/>
                </a:solidFill>
              </a:rPr>
              <a:t>It is possible to automate buying of tickets</a:t>
            </a:r>
            <a:endParaRPr sz="81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1C65009-779E-4963-B05F-59C944F3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00984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12F15AD-5295-47AF-B78F-A04F2E3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96896"/>
            <a:ext cx="144475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AD71BE-873D-4709-840C-75ACA50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70662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767B1"/>
                </a:solidFill>
              </a:rPr>
              <a:t>4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D43397F-EFCC-4276-943E-75F78D7C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008376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72033"/>
                </a:solidFill>
              </a:rPr>
              <a:t>Main Event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480920C-D5A4-49A5-AA48-1382BC4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55848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B6475"/>
                </a:solidFill>
              </a:rPr>
              <a:t>Groups compete to see who can buy the most tickets</a:t>
            </a:r>
            <a:endParaRPr sz="81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80B347-3399-4F91-9275-EEFDFC0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300984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767B1"/>
            </a:solidFill>
            <a:prstDash val="solid"/>
            <a:headEnd type="none"/>
            <a:tailEnd type="triangle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C2EC1BE-A2DE-4653-B811-FFF8C55A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592324"/>
            <a:ext cx="1444752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D59404-265C-4E68-B413-CB5DE04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702052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767B1"/>
                </a:solidFill>
              </a:rPr>
              <a:t>5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33A9F6C-CB5F-4DC6-8D28-BC6C878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003804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72033"/>
                </a:solidFill>
              </a:rPr>
              <a:t>Debrief</a:t>
            </a:r>
            <a:endParaRPr sz="10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5767A71-927F-4321-A6B2-DE7CAFC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351276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>
                <a:solidFill>
                  <a:srgbClr val="5B6475"/>
                </a:solidFill>
              </a:rPr>
              <a:t>Present findings and audit conclusions.</a:t>
            </a:r>
            <a:endParaRPr sz="8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94E858D-1677-4EB2-9CEF-6B23F5E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AF0E7DC-F54B-4AFE-89C3-4A0AF199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1BE1FA5-E7A0-4C56-B28D-AA14564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090806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D13554-E1F5-4971-878B-595A5B4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Debrief questions: what did the evidence show?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462FDD-D128-4875-943F-F2FA67A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Move from what the interface promised to what the backend actually enforced.</a:t>
            </a:r>
            <a:endParaRPr sz="950"/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5bb1d2db4f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1234440"/>
            <a:ext cx="4343400" cy="452628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057404-54CB-4F68-96DB-45C85BC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34440"/>
            <a:ext cx="49377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</a:rPr>
              <a:t>Questions for the audit team</a:t>
            </a:r>
            <a:endParaRPr sz="1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BD2D1B-1993-4EA4-810E-681C9ED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1AF11E-8D5C-4642-A9FF-6B64812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1</a:t>
            </a:r>
            <a:endParaRPr sz="8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A903CC-F2C2-4EB8-A030-982182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Which stated controls were actually enforced?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716E3CA-4CF8-463F-AE0D-DD074C5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C8CFB6C-E3A0-4501-BAD6-443EA3B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2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6B5492-4AD8-487C-A1FF-68A9010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What evidence supports valid-user access?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D29C71-6138-4ACE-835B-7D2D91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08F4DA-DCC1-4C81-A15C-C063E6A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3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C5D84B-0AAF-4A0E-975F-97EA54A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Did inventory reconcile after every sale?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F4434C-8C70-4AAB-A6A3-4154795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11F62BB-7F00-4BD2-8158-2322A5E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4</a:t>
            </a:r>
            <a:endParaRPr sz="8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F5378F0-7F94-45EB-8DB3-20225A1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Were scripted purchases prevented or only logged?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6E2235-3EDD-4A6D-B8D1-CED433B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6854721-7603-4A3A-879C-0D92807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5</a:t>
            </a:r>
            <a:endParaRPr sz="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65CFD5-3221-4907-86A0-56F02536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Who reviewed exceptions, and how quickly?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AB272F3-690A-4CA8-94F5-820A7CE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6C02DF6-D68D-4FFB-892B-0A2AF8A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6</a:t>
            </a:r>
            <a:endParaRPr sz="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B57C1C1-24C4-4D02-8C91-D95A3AC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What should management change before launch?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B88EE-2A93-41B9-9148-75062A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8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ED80357-5519-4B88-9DBB-7104918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40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42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</a:rPr>
              <a:t>For each answer, cite a screenshot, transaction result, inventory change, or log entry.</a:t>
            </a:r>
            <a:endParaRPr sz="14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3C7B205-8783-45D8-9133-82BF743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BA68D-9D1A-4513-85DE-67366F7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F150A8C-EBD6-4306-98D2-068BAE5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06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419445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D13554-E1F5-4971-878B-595A5B4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Suggested answers: separate design from operation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462FDD-D128-4875-943F-F2FA67A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A control can exist in policy or on screen and still fail at the API boundary.</a:t>
            </a:r>
            <a:endParaRPr sz="950"/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23c7294254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1234440"/>
            <a:ext cx="4343400" cy="452628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057404-54CB-4F68-96DB-45C85BC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34440"/>
            <a:ext cx="49377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</a:rPr>
              <a:t>Evidence-based conclusions</a:t>
            </a:r>
            <a:endParaRPr sz="1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BD2D1B-1993-4EA4-810E-681C9ED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1AF11E-8D5C-4642-A9FF-6B64812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1</a:t>
            </a:r>
            <a:endParaRPr sz="8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A903CC-F2C2-4EB8-A030-982182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One-ticket policy failed: the instructor bought five.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716E3CA-4CF8-463F-AE0D-DD074C5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C8CFB6C-E3A0-4501-BAD6-443EA3B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2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6B5492-4AD8-487C-A1FF-68A9010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Valid credentials were required; role access worked.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D29C71-6138-4ACE-835B-7D2D91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08F4DA-DCC1-4C81-A15C-C063E6A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3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C5D84B-0AAF-4A0E-975F-97EA54A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Inventory fell by five and holdings rose by five.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F4434C-8C70-4AAB-A6A3-4154795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11F62BB-7F00-4BD2-8158-2322A5E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4</a:t>
            </a:r>
            <a:endParaRPr sz="8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F5378F0-7F94-45EB-8DB3-20225A1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Automation was permitted up to the five-ticket cap.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6E2235-3EDD-4A6D-B8D1-CED433B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6854721-7603-4A3A-879C-0D92807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5</a:t>
            </a:r>
            <a:endParaRPr sz="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65CFD5-3221-4907-86A0-56F02536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Logs existed; review was not a preventive control.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AB272F3-690A-4CA8-94F5-820A7CE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6C02DF6-D68D-4FFB-892B-0A2AF8A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6</a:t>
            </a:r>
            <a:endParaRPr sz="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B57C1C1-24C4-4D02-8C91-D95A3AC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Add server rules, alerts, and pre-launch testing.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B88EE-2A93-41B9-9148-75062A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8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ED80357-5519-4B88-9DBB-7104918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40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42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</a:rPr>
              <a:t>Overall conclusion: preventive controls were incomplete; detective evidence required active review.</a:t>
            </a:r>
            <a:endParaRPr sz="14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3C7B205-8783-45D8-9133-82BF743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BA68D-9D1A-4513-85DE-67366F7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F150A8C-EBD6-4306-98D2-068BAE5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41944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DD5867-0F6D-41A5-965F-4ABCDF2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How inspection turns one purchase into automation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9B76E8-8C39-4434-814B-6803A69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Browser-only friction is bypassed when a script sends the same authorized request directly to the server.</a:t>
            </a:r>
            <a:endParaRPr sz="9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696BC8-FD93-40D9-9989-2CBD241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23444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3767B1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EE0A4F-334C-47CF-BCB3-069189A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34416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767B1"/>
                </a:solidFill>
              </a:rPr>
              <a:t>INSPECT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3DB4B1-5767-4E3F-A7BE-E09B214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4416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</a:rPr>
              <a:t>Open DevTools → Network and inspect page code to identify login, ticket lookup, and purchase calls.</a:t>
            </a:r>
            <a:endParaRPr sz="102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093E285-4DE0-499B-94B5-92F5B73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3172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6E4EE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79CA327-1AE8-4963-A5D3-A446D66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4144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6E4EE4"/>
                </a:solidFill>
              </a:rPr>
              <a:t>SIGN IN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442108-BB91-4A76-9296-6DCB143F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4144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token = SIGN_IN("instructor", "password")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964FAE-5293-4B97-876A-81F008A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35A06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271091-6703-499B-9172-8164314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3872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5A06A"/>
                </a:solidFill>
              </a:rPr>
              <a:t>DISCOVER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741823-C2E3-45EE-9E65-8FE7EF02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872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ticket = GET("/api/events/1/tickets").tickets[0]</a:t>
            </a:r>
            <a:endParaRPr sz="10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4FDAB38-6933-4560-AAC7-39C4CE3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26280"/>
            <a:ext cx="100126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F0A04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FE70F9-BB09-446B-9DD3-684162B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36008"/>
            <a:ext cx="2423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0A044"/>
                </a:solidFill>
              </a:rPr>
              <a:t>AUTOMATE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ABEA71-5509-4E21-9F73-4FB4AC45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36008"/>
            <a:ext cx="7086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POST("/api/purchase", Bearer token, eventId: 1, ticketTypeId: ticket.id, quantity: 5)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56FB8AA-CCC6-4F7B-9600-53989AC1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5740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4001ADF-B922-468F-B1C3-E7B4E33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5468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50BBFBC-2FF4-43DB-86CD-C8A32B7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196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475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48CCAE-1A2F-4441-BE43-1CB0986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5099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2033"/>
                </a:solidFill>
              </a:rPr>
              <a:t>Controls tested: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5F1211-19C1-4EF5-981F-5B3CA57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577840"/>
            <a:ext cx="9144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144F10-B1FB-44BF-B2CB-98DAF1D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46420"/>
            <a:ext cx="7315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Access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E7F15C6-3CE5-42BC-AF46-C54BEC5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77840"/>
            <a:ext cx="12344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E4EE4"/>
          </a:solidFill>
          <a:ln xmlns:a="http://schemas.openxmlformats.org/drawingml/2006/main" w="12700">
            <a:solidFill>
              <a:srgbClr val="6E4EE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3EF61DB-3636-4E91-9FF9-D975AE6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646420"/>
            <a:ext cx="10515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Authorization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5C1787E-80FA-4F93-9FBC-F2D54EB7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5577840"/>
            <a:ext cx="96012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5A06A"/>
          </a:solidFill>
          <a:ln xmlns:a="http://schemas.openxmlformats.org/drawingml/2006/main" w="12700">
            <a:solidFill>
              <a:srgbClr val="35A06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35B4084-0680-444D-A71F-5F2C19A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646420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Rate limits</a:t>
            </a:r>
            <a:endParaRPr sz="8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30F7457-42F9-43CB-A726-AE284784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7840"/>
            <a:ext cx="16002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A044"/>
          </a:solidFill>
          <a:ln xmlns:a="http://schemas.openxmlformats.org/drawingml/2006/main" w="12700">
            <a:solidFill>
              <a:srgbClr val="F0A04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EC3167-349D-48E6-8EE1-9CA84984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646420"/>
            <a:ext cx="14173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Logging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26A3269-4F84-4159-AEC4-C0376F2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577840"/>
            <a:ext cx="114300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B3C0"/>
          </a:solidFill>
          <a:ln xmlns:a="http://schemas.openxmlformats.org/drawingml/2006/main" w="12700">
            <a:solidFill>
              <a:srgbClr val="2BB3C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0B8A4C-0501-4A0A-ACD8-1EE50AC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646420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Monitoring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331F283-2F63-4D9C-831B-C78E9C7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C754A88-E43E-4611-8666-EA08E5C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45CB6FB-CFBD-4F83-AEE6-273BB03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2561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D13554-E1F5-4971-878B-595A5B4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Admin panel provides a control-level snapshot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462FDD-D128-4875-943F-F2FA67A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04672"/>
            <a:ext cx="8778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B6475"/>
                </a:solidFill>
              </a:rPr>
              <a:t>Use the screen as evidence, then trace the displayed numbers back to holdings and logs.</a:t>
            </a:r>
            <a:endParaRPr sz="950"/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8cb629ce44302"/>
          <a:stretch xmlns:a="http://schemas.openxmlformats.org/drawingml/2006/main"/>
        </p:blipFill>
        <p:spPr>
          <a:xfrm xmlns:a="http://schemas.openxmlformats.org/drawingml/2006/main">
            <a:off x="6572250" y="1632150"/>
            <a:ext cx="4762500" cy="3730861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057404-54CB-4F68-96DB-45C85BC5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34440"/>
            <a:ext cx="49377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</a:rPr>
              <a:t>What the screenshot shows</a:t>
            </a:r>
            <a:endParaRPr sz="1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6BD2D1B-1993-4EA4-810E-681C9ED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1AF11E-8D5C-4642-A9FF-6B64812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1</a:t>
            </a:r>
            <a:endParaRPr sz="8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A903CC-F2C2-4EB8-A030-982182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56 seeded user accounts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716E3CA-4CF8-463F-AE0D-DD074C5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C8CFB6C-E3A0-4501-BAD6-443EA3B3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024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2</a:t>
            </a:r>
            <a:endParaRPr sz="8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6B5492-4AD8-487C-A1FF-68A9010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537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26 tickets sold in total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4D29C71-6138-4ACE-835B-7D2D916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08F4DA-DCC1-4C81-A15C-C063E6A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3</a:t>
            </a:r>
            <a:endParaRPr sz="8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AC5D84B-0AAF-4A0E-975F-97EA54AD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$20 of recorded revenue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F4434C-8C70-4AAB-A6A3-41547958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29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11F62BB-7F00-4BD2-8158-2322A5E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608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4</a:t>
            </a:r>
            <a:endParaRPr sz="8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F5378F0-7F94-45EB-8DB3-20225A1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121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99,994 Trial Tickets available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6E2235-3EDD-4A6D-B8D1-CED433B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6854721-7603-4A3A-879C-0D92807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5</a:t>
            </a:r>
            <a:endParaRPr sz="8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65CFD5-3221-4907-86A0-56F02536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9 Main Tickets available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AB272F3-690A-4CA8-94F5-820A7CE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587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6C02DF6-D68D-4FFB-892B-0A2AF8A3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31920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</a:rPr>
              <a:t>6</a:t>
            </a:r>
            <a:endParaRPr sz="8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B57C1C1-24C4-4D02-8C91-D95A3AC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7056"/>
            <a:ext cx="2148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033"/>
                </a:solidFill>
              </a:rPr>
              <a:t>Admin-only release and reset controls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B88EE-2A93-41B9-9148-75062A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8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ED80357-5519-4B88-9DBB-7104918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5440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42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</a:rPr>
              <a:t>This is evidence of system state—not proof that every underlying control operated.</a:t>
            </a:r>
            <a:endParaRPr sz="14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3C7B205-8783-45D8-9133-82BF743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BA68D-9D1A-4513-85DE-67366F7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F150A8C-EBD6-4306-98D2-068BAE5C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09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419445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B95D2D-2003-479D-BA33-E68EF4A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8595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Instructor view makes the bypass reproducible</a:t>
            </a:r>
            <a:endParaRPr sz="24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8564a71e74d06"/>
          <a:stretch xmlns:a="http://schemas.openxmlformats.org/drawingml/2006/main"/>
        </p:blipFill>
        <p:spPr>
          <a:xfrm xmlns:a="http://schemas.openxmlformats.org/drawingml/2006/main">
            <a:off x="7635240" y="1599978"/>
            <a:ext cx="3886200" cy="361232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8CC3C1D-AAF1-40B1-8A03-620A7D3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</a:rPr>
              <a:t>The demonstration exposes the same request sequence a script follows while keeping the classroom cap at five tickets.</a:t>
            </a:r>
            <a:endParaRPr sz="16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EAC2644-42C3-4719-813E-9482DBC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C0C279-02AA-4706-B3DB-9129F280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214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44"/>
          </a:solidFill>
          <a:ln xmlns:a="http://schemas.openxmlformats.org/drawingml/2006/main" w="12700">
            <a:solidFill>
              <a:srgbClr val="F0A044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71F0FDB-F4E2-41B2-9C97-03D7479B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8541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D80C38-43E6-43BF-B0A4-EFB9B202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86083"/>
            <a:ext cx="5458968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Authenticate and receive a Bearer token.</a:t>
            </a:r>
            <a:endParaRPr sz="11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B015A47-3416-418D-B6DC-312E451F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985B0A2-2C58-44F9-A546-75EB3DA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272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7B1"/>
          </a:solidFill>
          <a:ln xmlns:a="http://schemas.openxmlformats.org/drawingml/2006/main" w="12700">
            <a:solidFill>
              <a:srgbClr val="3767B1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FE22FF0-34CE-4E85-A87C-5F60117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9125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BB8533A-5E7F-4A98-BA69-6163768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226784"/>
            <a:ext cx="5550408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Read the live ticket type before purchasing.</a:t>
            </a:r>
            <a:endParaRPr sz="11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278CC90-ACF1-4690-A200-5243056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17220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EE8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9D0DA">
                <a:alpha val="1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CA27685-954D-453A-9AE8-90F0A94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330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06A"/>
          </a:solidFill>
          <a:ln xmlns:a="http://schemas.openxmlformats.org/drawingml/2006/main" w="12700">
            <a:solidFill>
              <a:srgbClr val="35A06A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7CD11A-F190-41C7-9F1A-57A7F76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197096"/>
            <a:ext cx="34747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56F79DB-E169-4BEF-B50C-1AEAB59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185285"/>
            <a:ext cx="5458968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33"/>
                </a:solidFill>
              </a:rPr>
              <a:t>Send one purchase request with quantity five.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462E775-453C-422A-8757-5B10208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598932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72033"/>
                </a:solidFill>
              </a:rPr>
              <a:t>The browser button and an external script call the same backend endpoint.</a:t>
            </a:r>
            <a:endParaRPr sz="13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D185E32-B8F1-4E09-9F65-F30D50F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55664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DEE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99BE742-8F06-4A70-AEB5-FC5A490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5B6475"/>
                </a:solidFill>
              </a:rPr>
              <a:t>SeatGate IT Audit Case</a:t>
            </a:r>
            <a:endParaRPr sz="7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4D04F38-6C76-4603-9571-3D35AED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37960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B6475"/>
                </a:solidFill>
              </a:rPr>
              <a:t>10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925462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2026-08-10T05:16:01.6520000Z</dcterms:created>
  <dcterms:modified xsi:type="dcterms:W3CDTF">2026-08-10T05:16:01.6520000Z</dcterms:modified>
</coreProperties>
</file>